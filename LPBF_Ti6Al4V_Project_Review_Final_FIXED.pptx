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63" r:id="rId8"/>
    <p:sldId id="264" r:id="rId9"/>
    <p:sldId id="262" r:id="rId10"/>
    <p:sldId id="265" r:id="rId11"/>
    <p:sldId id="270" r:id="rId12"/>
    <p:sldId id="271" r:id="rId13"/>
    <p:sldId id="272" r:id="rId14"/>
    <p:sldId id="267" r:id="rId15"/>
    <p:sldId id="268" r:id="rId16"/>
    <p:sldId id="269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70F24E-4A9D-41F3-9363-633B54D0C8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2DA1FB-C389-4802-9DD5-1A22CADD30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FE32E5-887B-4C82-BB36-5DA3A07E71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C51E05-899A-40AC-B5CE-78363743E4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72D642-C53D-4DC3-9328-11ACE49114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31B460-13BF-44A8-BB15-CD1F0BE71F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69AA5D-53AA-4587-9733-E4DA33E9ED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ED068D-E41F-49AC-B788-8AEC720A73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13DABB-8D98-4102-BB62-62DF3C6715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1C2BC4-55AD-4EEE-9D62-F8F9307FC2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40EC59-5A29-45C7-B585-DBBAA043A4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914400" y="1325880"/>
            <a:ext cx="10097729" cy="1619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34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Explainable &amp; Uncertainty-Aware</a:t>
            </a:r>
            <a:br>
              <a:rPr sz="3400" dirty="0"/>
            </a:br>
            <a:r>
              <a:rPr lang="en-US" sz="34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Machine Learning for LPBF Ti-6Al-4V</a:t>
            </a: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2D5B91"/>
                </a:solidFill>
                <a:effectLst/>
                <a:uFillTx/>
                <a:latin typeface="Aptos"/>
              </a:rPr>
              <a:t>Predicting Porosity and Mechanical Properties using Process–Structure–Property Features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9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BF9BF-3151-8E9C-A2E9-C348F477259C}"/>
              </a:ext>
            </a:extLst>
          </p:cNvPr>
          <p:cNvSpPr txBox="1"/>
          <p:nvPr/>
        </p:nvSpPr>
        <p:spPr>
          <a:xfrm>
            <a:off x="796413" y="4054792"/>
            <a:ext cx="2910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BY: - </a:t>
            </a:r>
          </a:p>
          <a:p>
            <a:r>
              <a:rPr lang="en-IN" dirty="0"/>
              <a:t>G. Subhash Guptha(23015)</a:t>
            </a:r>
          </a:p>
          <a:p>
            <a:r>
              <a:rPr lang="en-IN" dirty="0"/>
              <a:t>R. Gautam(23022)</a:t>
            </a:r>
          </a:p>
          <a:p>
            <a:r>
              <a:rPr lang="en-IN" dirty="0"/>
              <a:t>K. Mithul(23025)</a:t>
            </a:r>
          </a:p>
          <a:p>
            <a:r>
              <a:rPr lang="en-IN" dirty="0"/>
              <a:t>S.V. Sai Sashank(23043)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A3C24-D28F-6C5B-3BAD-D0BC6CCA3DD1}"/>
              </a:ext>
            </a:extLst>
          </p:cNvPr>
          <p:cNvSpPr txBox="1"/>
          <p:nvPr/>
        </p:nvSpPr>
        <p:spPr>
          <a:xfrm>
            <a:off x="8780206" y="4058694"/>
            <a:ext cx="1776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SUBMITTED TO:-</a:t>
            </a:r>
          </a:p>
          <a:p>
            <a:r>
              <a:rPr lang="en-US" dirty="0"/>
              <a:t>Dr. Sathies 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 Literature Review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Selected paper and the experimental foundation for our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3"/>
          <p:cNvSpPr/>
          <p:nvPr/>
        </p:nvSpPr>
        <p:spPr>
          <a:xfrm>
            <a:off x="640080" y="1143000"/>
            <a:ext cx="5303160" cy="452592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822960" y="1611016"/>
            <a:ext cx="4983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2D5B91"/>
                </a:solidFill>
                <a:effectLst/>
                <a:uFillTx/>
                <a:latin typeface="Aptos"/>
              </a:rPr>
              <a:t>Selected Paper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822960" y="2088979"/>
            <a:ext cx="495576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Luo et al. (2023)</a:t>
            </a:r>
            <a:br>
              <a:rPr sz="1500" dirty="0"/>
            </a:br>
            <a:r>
              <a:rPr lang="en-US" sz="15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“Dataset of process-structure-property feature relationship for laser powder bed fusion additive manufactured Ti-6Al-4V material”</a:t>
            </a:r>
            <a:br>
              <a:rPr sz="1500" dirty="0"/>
            </a:br>
            <a:br>
              <a:rPr sz="1500" dirty="0"/>
            </a:br>
            <a:r>
              <a:rPr lang="en-US" sz="15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Data in Brief, 46, 108911</a:t>
            </a:r>
            <a:br>
              <a:rPr sz="1500" dirty="0"/>
            </a:br>
            <a:br>
              <a:rPr sz="1500" dirty="0"/>
            </a:br>
            <a:r>
              <a:rPr lang="en-US" sz="15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The dataset links LPBF processing conditions with pore structure, grain morphology, surface roughness and mechanical properties.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6217920" y="1143000"/>
            <a:ext cx="5303160" cy="132552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8"/>
          <p:cNvSpPr/>
          <p:nvPr/>
        </p:nvSpPr>
        <p:spPr>
          <a:xfrm>
            <a:off x="6217920" y="1143000"/>
            <a:ext cx="72720" cy="132552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6400800" y="1252800"/>
            <a:ext cx="4983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What the paper studied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400800" y="1645920"/>
            <a:ext cx="4955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42 unique combinations of laser power and scan speed using LPBF Ti-6Al-4V.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1"/>
          <p:cNvSpPr/>
          <p:nvPr/>
        </p:nvSpPr>
        <p:spPr>
          <a:xfrm>
            <a:off x="6217920" y="2697480"/>
            <a:ext cx="5303160" cy="1325520"/>
          </a:xfrm>
          <a:prstGeom prst="roundRect">
            <a:avLst>
              <a:gd name="adj" fmla="val 16667"/>
            </a:avLst>
          </a:prstGeom>
          <a:solidFill>
            <a:srgbClr val="FCF4E7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2"/>
          <p:cNvSpPr/>
          <p:nvPr/>
        </p:nvSpPr>
        <p:spPr>
          <a:xfrm>
            <a:off x="6217920" y="2697480"/>
            <a:ext cx="72720" cy="132552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6400800" y="2807280"/>
            <a:ext cx="4983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How it was characterized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6400800" y="3200400"/>
            <a:ext cx="4955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XCT + image analysis for pores; optical microscopy for grains; tensile testing and Vickers microhardness for properties.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5"/>
          <p:cNvSpPr/>
          <p:nvPr/>
        </p:nvSpPr>
        <p:spPr>
          <a:xfrm>
            <a:off x="6217920" y="4251960"/>
            <a:ext cx="5303160" cy="141696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16"/>
          <p:cNvSpPr/>
          <p:nvPr/>
        </p:nvSpPr>
        <p:spPr>
          <a:xfrm>
            <a:off x="6217920" y="4251960"/>
            <a:ext cx="72720" cy="1416960"/>
          </a:xfrm>
          <a:prstGeom prst="rect">
            <a:avLst/>
          </a:prstGeom>
          <a:solidFill>
            <a:srgbClr val="3091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6400800" y="4361760"/>
            <a:ext cx="4983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09167"/>
                </a:solidFill>
                <a:effectLst/>
                <a:uFillTx/>
                <a:latin typeface="Aptos"/>
              </a:rPr>
              <a:t>What it enables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6400800" y="4754880"/>
            <a:ext cx="4955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A quantitative process–structure–property dataset suitable for ML development, analysis and process optimization.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9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 Literature Review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What the dataset provides: process, structure and property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640080" y="1143000"/>
            <a:ext cx="3428640" cy="452592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822960" y="1252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PROCESS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822960" y="1645920"/>
            <a:ext cx="3081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Laser power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Scan speed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Linear energy density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Modified energy-density descriptor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 × v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Hatch spacing and layer thickness were fixed in the campaign.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4389120" y="1143000"/>
            <a:ext cx="3428640" cy="452592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4572000" y="1252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STRUCTURE / DEFECTS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4572000" y="1645920"/>
            <a:ext cx="3081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Archimedes &amp; XCT porosity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Pore quantity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Pore size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Pore sphericity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Projected pore area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Surface roughness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Prior-β grain size &amp; aspect ratio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1"/>
          <p:cNvSpPr/>
          <p:nvPr/>
        </p:nvSpPr>
        <p:spPr>
          <a:xfrm>
            <a:off x="8138160" y="1143000"/>
            <a:ext cx="3428640" cy="4525920"/>
          </a:xfrm>
          <a:prstGeom prst="roundRect">
            <a:avLst>
              <a:gd name="adj" fmla="val 16667"/>
            </a:avLst>
          </a:prstGeom>
          <a:solidFill>
            <a:srgbClr val="FCF4E7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8321040" y="1252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PROPERTIES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8321040" y="1645920"/>
            <a:ext cx="3081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Yield strength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Ultimate tensile strength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Elongation to necking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Elongation to fracture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Young’s modulus</a:t>
            </a:r>
            <a:br>
              <a:rPr sz="1400"/>
            </a:br>
            <a:r>
              <a:rPr lang="en-US" sz="14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Vickers microhardness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 Motivation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Why this project is needed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3"/>
          <p:cNvSpPr/>
          <p:nvPr/>
        </p:nvSpPr>
        <p:spPr>
          <a:xfrm>
            <a:off x="685800" y="1234440"/>
            <a:ext cx="5166000" cy="1874160"/>
          </a:xfrm>
          <a:prstGeom prst="roundRect">
            <a:avLst>
              <a:gd name="adj" fmla="val 16667"/>
            </a:avLst>
          </a:prstGeom>
          <a:solidFill>
            <a:srgbClr val="FCEDED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685800" y="1234440"/>
            <a:ext cx="72720" cy="1874160"/>
          </a:xfrm>
          <a:prstGeom prst="rect">
            <a:avLst/>
          </a:prstGeom>
          <a:solidFill>
            <a:srgbClr val="CD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8686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D4343"/>
                </a:solidFill>
                <a:effectLst/>
                <a:uFillTx/>
                <a:latin typeface="Aptos"/>
              </a:rPr>
              <a:t>Manufacturing motivation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868680" y="1737360"/>
            <a:ext cx="48186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LPBF Ti-6Al-4V has nonlinear relationships between process parameters, defects, microstructure and final properties. Experimental trial-and-error is costly and time-consuming.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6172200" y="1234440"/>
            <a:ext cx="5166000" cy="1874160"/>
          </a:xfrm>
          <a:prstGeom prst="roundRect">
            <a:avLst>
              <a:gd name="adj" fmla="val 16667"/>
            </a:avLst>
          </a:prstGeom>
          <a:solidFill>
            <a:srgbClr val="FCF4E7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6172200" y="1234440"/>
            <a:ext cx="72720" cy="187416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63550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Machine-learning motivation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355080" y="1737360"/>
            <a:ext cx="48186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ML can reduce repeated experiments, but small and correlated datasets can produce unreliable or overly optimistic results if validation is not designed carefully.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1"/>
          <p:cNvSpPr/>
          <p:nvPr/>
        </p:nvSpPr>
        <p:spPr>
          <a:xfrm>
            <a:off x="685800" y="3520440"/>
            <a:ext cx="3245760" cy="173700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2"/>
          <p:cNvSpPr/>
          <p:nvPr/>
        </p:nvSpPr>
        <p:spPr>
          <a:xfrm>
            <a:off x="685800" y="3520440"/>
            <a:ext cx="72720" cy="173700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86868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WE NEED TO PREDICT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868680" y="4023360"/>
            <a:ext cx="28983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Porosity</a:t>
            </a:r>
            <a:br>
              <a:rPr sz="1600"/>
            </a:b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Strength</a:t>
            </a:r>
            <a:br>
              <a:rPr sz="1600"/>
            </a:b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Ductility</a:t>
            </a:r>
            <a:br>
              <a:rPr sz="1600"/>
            </a:b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Hardness / modulus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5"/>
          <p:cNvSpPr/>
          <p:nvPr/>
        </p:nvSpPr>
        <p:spPr>
          <a:xfrm>
            <a:off x="4434840" y="3520440"/>
            <a:ext cx="3245760" cy="173700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16"/>
          <p:cNvSpPr/>
          <p:nvPr/>
        </p:nvSpPr>
        <p:spPr>
          <a:xfrm>
            <a:off x="4434840" y="3520440"/>
            <a:ext cx="72720" cy="173700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461772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WE NEED TO EXPLAIN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4617720" y="4023360"/>
            <a:ext cx="28983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Which process, pore and grain features contribute to predictions?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9"/>
          <p:cNvSpPr/>
          <p:nvPr/>
        </p:nvSpPr>
        <p:spPr>
          <a:xfrm>
            <a:off x="8183880" y="3520440"/>
            <a:ext cx="3245760" cy="173700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20"/>
          <p:cNvSpPr/>
          <p:nvPr/>
        </p:nvSpPr>
        <p:spPr>
          <a:xfrm>
            <a:off x="8183880" y="3520440"/>
            <a:ext cx="72720" cy="173700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836676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WE NEED TO TRUST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8366760" y="4023360"/>
            <a:ext cx="28983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How certain is the prediction and is it inside the supported process range?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23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Problem Statement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The central research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3"/>
          <p:cNvSpPr/>
          <p:nvPr/>
        </p:nvSpPr>
        <p:spPr>
          <a:xfrm>
            <a:off x="685800" y="123444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685800" y="1234440"/>
            <a:ext cx="72720" cy="182844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8686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CURRENT SITUATION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868680" y="1737360"/>
            <a:ext cx="48186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LPBF Ti-6Al-4V produces complex relationships among process parameters, porosity, microstructure and mechanical properties.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6172200" y="123444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CEDED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6172200" y="1234440"/>
            <a:ext cx="72720" cy="1828440"/>
          </a:xfrm>
          <a:prstGeom prst="rect">
            <a:avLst/>
          </a:prstGeom>
          <a:solidFill>
            <a:srgbClr val="CD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63550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D4343"/>
                </a:solidFill>
                <a:effectLst/>
                <a:uFillTx/>
                <a:latin typeface="Aptos"/>
              </a:rPr>
              <a:t>LIMITATION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6355080" y="1737360"/>
            <a:ext cx="48186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Simple ML comparisons may report accuracy without addressing data leakage, feature-group value, prediction uncertainty or extrapolation.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685800" y="3520440"/>
            <a:ext cx="10652400" cy="155412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12"/>
          <p:cNvSpPr/>
          <p:nvPr/>
        </p:nvSpPr>
        <p:spPr>
          <a:xfrm>
            <a:off x="685800" y="3520440"/>
            <a:ext cx="72720" cy="155412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868680" y="363024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RESEARCH PROBLEM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868680" y="4023360"/>
            <a:ext cx="10305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How can we build a reliable and explainable ML framework that predicts porosity and mechanical properties while quantifying feature contributions and prediction uncertainty, using only experimentally supported process conditions?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Arial"/>
              </a:rPr>
              <a:t>Objectives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3"/>
          <p:cNvSpPr/>
          <p:nvPr/>
        </p:nvSpPr>
        <p:spPr>
          <a:xfrm>
            <a:off x="685800" y="118872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4"/>
          <p:cNvSpPr/>
          <p:nvPr/>
        </p:nvSpPr>
        <p:spPr>
          <a:xfrm>
            <a:off x="685800" y="1188720"/>
            <a:ext cx="72720" cy="95976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5"/>
          <p:cNvSpPr/>
          <p:nvPr/>
        </p:nvSpPr>
        <p:spPr>
          <a:xfrm>
            <a:off x="868680" y="129852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868680" y="169164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Clean standardized dataset + data dictionary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7"/>
          <p:cNvSpPr/>
          <p:nvPr/>
        </p:nvSpPr>
        <p:spPr>
          <a:xfrm>
            <a:off x="6217920" y="118872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8"/>
          <p:cNvSpPr/>
          <p:nvPr/>
        </p:nvSpPr>
        <p:spPr>
          <a:xfrm>
            <a:off x="6217920" y="1188720"/>
            <a:ext cx="72720" cy="95976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9"/>
          <p:cNvSpPr/>
          <p:nvPr/>
        </p:nvSpPr>
        <p:spPr>
          <a:xfrm>
            <a:off x="6400800" y="129852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EDA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0"/>
          <p:cNvSpPr/>
          <p:nvPr/>
        </p:nvSpPr>
        <p:spPr>
          <a:xfrm>
            <a:off x="6400800" y="169164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Distribution, correlation, process-map and relationship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11"/>
          <p:cNvSpPr/>
          <p:nvPr/>
        </p:nvSpPr>
        <p:spPr>
          <a:xfrm>
            <a:off x="685800" y="242316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12"/>
          <p:cNvSpPr/>
          <p:nvPr/>
        </p:nvSpPr>
        <p:spPr>
          <a:xfrm>
            <a:off x="685800" y="2423160"/>
            <a:ext cx="72720" cy="95976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13"/>
          <p:cNvSpPr/>
          <p:nvPr/>
        </p:nvSpPr>
        <p:spPr>
          <a:xfrm>
            <a:off x="868680" y="25329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4"/>
          <p:cNvSpPr/>
          <p:nvPr/>
        </p:nvSpPr>
        <p:spPr>
          <a:xfrm>
            <a:off x="868680" y="292608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Model performance comparison for selected targets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15"/>
          <p:cNvSpPr/>
          <p:nvPr/>
        </p:nvSpPr>
        <p:spPr>
          <a:xfrm>
            <a:off x="6217920" y="242316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16"/>
          <p:cNvSpPr/>
          <p:nvPr/>
        </p:nvSpPr>
        <p:spPr>
          <a:xfrm>
            <a:off x="6217920" y="2423160"/>
            <a:ext cx="72720" cy="95976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17"/>
          <p:cNvSpPr/>
          <p:nvPr/>
        </p:nvSpPr>
        <p:spPr>
          <a:xfrm>
            <a:off x="6400800" y="25329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EXPLAINABILITY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8"/>
          <p:cNvSpPr/>
          <p:nvPr/>
        </p:nvSpPr>
        <p:spPr>
          <a:xfrm>
            <a:off x="6400800" y="292608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SHAP / feature-importance / ablation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19"/>
          <p:cNvSpPr/>
          <p:nvPr/>
        </p:nvSpPr>
        <p:spPr>
          <a:xfrm>
            <a:off x="685800" y="365760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20"/>
          <p:cNvSpPr/>
          <p:nvPr/>
        </p:nvSpPr>
        <p:spPr>
          <a:xfrm>
            <a:off x="685800" y="3657600"/>
            <a:ext cx="72720" cy="959760"/>
          </a:xfrm>
          <a:prstGeom prst="rect">
            <a:avLst/>
          </a:prstGeom>
          <a:solidFill>
            <a:srgbClr val="3091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1"/>
          <p:cNvSpPr/>
          <p:nvPr/>
        </p:nvSpPr>
        <p:spPr>
          <a:xfrm>
            <a:off x="868680" y="37674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09167"/>
                </a:solidFill>
                <a:effectLst/>
                <a:uFillTx/>
                <a:latin typeface="Aptos"/>
              </a:rPr>
              <a:t>UNCERTAINTY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2"/>
          <p:cNvSpPr/>
          <p:nvPr/>
        </p:nvSpPr>
        <p:spPr>
          <a:xfrm>
            <a:off x="868680" y="416052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Prediction intervals + high-uncertainty regions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23"/>
          <p:cNvSpPr/>
          <p:nvPr/>
        </p:nvSpPr>
        <p:spPr>
          <a:xfrm>
            <a:off x="6217920" y="365760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24"/>
          <p:cNvSpPr/>
          <p:nvPr/>
        </p:nvSpPr>
        <p:spPr>
          <a:xfrm>
            <a:off x="6217920" y="3657600"/>
            <a:ext cx="72720" cy="959760"/>
          </a:xfrm>
          <a:prstGeom prst="rect">
            <a:avLst/>
          </a:prstGeom>
          <a:solidFill>
            <a:srgbClr val="CD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25"/>
          <p:cNvSpPr/>
          <p:nvPr/>
        </p:nvSpPr>
        <p:spPr>
          <a:xfrm>
            <a:off x="6400800" y="37674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D4343"/>
                </a:solidFill>
                <a:effectLst/>
                <a:uFillTx/>
                <a:latin typeface="Aptos"/>
              </a:rPr>
              <a:t>OPTIMIZATION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6"/>
          <p:cNvSpPr/>
          <p:nvPr/>
        </p:nvSpPr>
        <p:spPr>
          <a:xfrm>
            <a:off x="6400800" y="416052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Constrained Pareto-front / promising process conditions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27"/>
          <p:cNvSpPr/>
          <p:nvPr/>
        </p:nvSpPr>
        <p:spPr>
          <a:xfrm>
            <a:off x="3456360" y="4892040"/>
            <a:ext cx="5074560" cy="95976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28"/>
          <p:cNvSpPr/>
          <p:nvPr/>
        </p:nvSpPr>
        <p:spPr>
          <a:xfrm>
            <a:off x="3456360" y="4892040"/>
            <a:ext cx="72720" cy="95976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29"/>
          <p:cNvSpPr/>
          <p:nvPr/>
        </p:nvSpPr>
        <p:spPr>
          <a:xfrm>
            <a:off x="3639240" y="500184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REPORT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0"/>
          <p:cNvSpPr/>
          <p:nvPr/>
        </p:nvSpPr>
        <p:spPr>
          <a:xfrm>
            <a:off x="3639240" y="5394960"/>
            <a:ext cx="472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Reproducible Python code + final project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3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3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 Availability of the Datasets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Public data used as the foundation of the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3"/>
          <p:cNvSpPr/>
          <p:nvPr/>
        </p:nvSpPr>
        <p:spPr>
          <a:xfrm>
            <a:off x="685800" y="123444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4"/>
          <p:cNvSpPr/>
          <p:nvPr/>
        </p:nvSpPr>
        <p:spPr>
          <a:xfrm>
            <a:off x="685800" y="1234440"/>
            <a:ext cx="72720" cy="182844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8686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DATASET SOURCE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868680" y="1737360"/>
            <a:ext cx="48186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Zenodo — record 6587905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The paper states that the processed feature table and raw experimental data are publicly available.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7"/>
          <p:cNvSpPr/>
          <p:nvPr/>
        </p:nvSpPr>
        <p:spPr>
          <a:xfrm>
            <a:off x="6172200" y="123444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8"/>
          <p:cNvSpPr/>
          <p:nvPr/>
        </p:nvSpPr>
        <p:spPr>
          <a:xfrm>
            <a:off x="6172200" y="1234440"/>
            <a:ext cx="72720" cy="182844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63550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WHAT IS AVAILABLE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6355080" y="1737360"/>
            <a:ext cx="48186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Processing features, porosity, pore morphology, surface roughness, grain morphology, mechanical properties, hardness and supporting raw experimental files.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1"/>
          <p:cNvSpPr/>
          <p:nvPr/>
        </p:nvSpPr>
        <p:spPr>
          <a:xfrm>
            <a:off x="685800" y="3520440"/>
            <a:ext cx="3245760" cy="1691280"/>
          </a:xfrm>
          <a:prstGeom prst="roundRect">
            <a:avLst>
              <a:gd name="adj" fmla="val 16667"/>
            </a:avLst>
          </a:prstGeom>
          <a:solidFill>
            <a:srgbClr val="FCF4E7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12"/>
          <p:cNvSpPr/>
          <p:nvPr/>
        </p:nvSpPr>
        <p:spPr>
          <a:xfrm>
            <a:off x="685800" y="3520440"/>
            <a:ext cx="72720" cy="169128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86868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42 CONDITIONS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868680" y="4023360"/>
            <a:ext cx="2898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Unique combinations of laser power and scan speed.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5"/>
          <p:cNvSpPr/>
          <p:nvPr/>
        </p:nvSpPr>
        <p:spPr>
          <a:xfrm>
            <a:off x="4434840" y="3520440"/>
            <a:ext cx="3245760" cy="169128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16"/>
          <p:cNvSpPr/>
          <p:nvPr/>
        </p:nvSpPr>
        <p:spPr>
          <a:xfrm>
            <a:off x="4434840" y="3520440"/>
            <a:ext cx="72720" cy="1691280"/>
          </a:xfrm>
          <a:prstGeom prst="rect">
            <a:avLst/>
          </a:prstGeom>
          <a:solidFill>
            <a:srgbClr val="3091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7"/>
          <p:cNvSpPr/>
          <p:nvPr/>
        </p:nvSpPr>
        <p:spPr>
          <a:xfrm>
            <a:off x="461772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09167"/>
                </a:solidFill>
                <a:effectLst/>
                <a:uFillTx/>
                <a:latin typeface="Aptos"/>
              </a:rPr>
              <a:t>PUBLIC ACCESS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8"/>
          <p:cNvSpPr/>
          <p:nvPr/>
        </p:nvSpPr>
        <p:spPr>
          <a:xfrm>
            <a:off x="4617720" y="4023360"/>
            <a:ext cx="2898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The paper reports no specific access restrictions for the repository.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9"/>
          <p:cNvSpPr/>
          <p:nvPr/>
        </p:nvSpPr>
        <p:spPr>
          <a:xfrm>
            <a:off x="8183880" y="3520440"/>
            <a:ext cx="3245760" cy="16912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20"/>
          <p:cNvSpPr/>
          <p:nvPr/>
        </p:nvSpPr>
        <p:spPr>
          <a:xfrm>
            <a:off x="8183880" y="3520440"/>
            <a:ext cx="72720" cy="169128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1"/>
          <p:cNvSpPr/>
          <p:nvPr/>
        </p:nvSpPr>
        <p:spPr>
          <a:xfrm>
            <a:off x="8366760" y="363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PROJECT USE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2"/>
          <p:cNvSpPr/>
          <p:nvPr/>
        </p:nvSpPr>
        <p:spPr>
          <a:xfrm>
            <a:off x="8366760" y="4023360"/>
            <a:ext cx="2898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Start with the processed feature table; raw microscopy images and complete stress–strain curves are outside the first implementation scope.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27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8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1"/>
          <p:cNvSpPr/>
          <p:nvPr/>
        </p:nvSpPr>
        <p:spPr>
          <a:xfrm>
            <a:off x="594360" y="292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2F44"/>
                </a:solidFill>
                <a:effectLst/>
                <a:uFillTx/>
                <a:latin typeface="Aptos Display"/>
              </a:rPr>
              <a:t>Methodology: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Only the project workflow needed to explain how the research will be carried 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3"/>
          <p:cNvSpPr/>
          <p:nvPr/>
        </p:nvSpPr>
        <p:spPr>
          <a:xfrm>
            <a:off x="594360" y="1234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4"/>
          <p:cNvSpPr/>
          <p:nvPr/>
        </p:nvSpPr>
        <p:spPr>
          <a:xfrm>
            <a:off x="594360" y="1234440"/>
            <a:ext cx="72720" cy="182844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5"/>
          <p:cNvSpPr/>
          <p:nvPr/>
        </p:nvSpPr>
        <p:spPr>
          <a:xfrm>
            <a:off x="777240" y="1344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1. Dataset audit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6"/>
          <p:cNvSpPr/>
          <p:nvPr/>
        </p:nvSpPr>
        <p:spPr>
          <a:xfrm>
            <a:off x="777240" y="1737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Units, missing values, repeated measurements, feature definitions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7"/>
          <p:cNvSpPr/>
          <p:nvPr/>
        </p:nvSpPr>
        <p:spPr>
          <a:xfrm>
            <a:off x="3474720" y="1234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8"/>
          <p:cNvSpPr/>
          <p:nvPr/>
        </p:nvSpPr>
        <p:spPr>
          <a:xfrm>
            <a:off x="3474720" y="1234440"/>
            <a:ext cx="72720" cy="182844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9"/>
          <p:cNvSpPr/>
          <p:nvPr/>
        </p:nvSpPr>
        <p:spPr>
          <a:xfrm>
            <a:off x="3657600" y="1344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2. Feature groups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0"/>
          <p:cNvSpPr/>
          <p:nvPr/>
        </p:nvSpPr>
        <p:spPr>
          <a:xfrm>
            <a:off x="3657600" y="1737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Process-only → process + defect → full PSP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1"/>
          <p:cNvSpPr/>
          <p:nvPr/>
        </p:nvSpPr>
        <p:spPr>
          <a:xfrm>
            <a:off x="6355080" y="1234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12"/>
          <p:cNvSpPr/>
          <p:nvPr/>
        </p:nvSpPr>
        <p:spPr>
          <a:xfrm>
            <a:off x="6355080" y="1234440"/>
            <a:ext cx="72720" cy="182844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3"/>
          <p:cNvSpPr/>
          <p:nvPr/>
        </p:nvSpPr>
        <p:spPr>
          <a:xfrm>
            <a:off x="6537960" y="1344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3. EDA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4"/>
          <p:cNvSpPr/>
          <p:nvPr/>
        </p:nvSpPr>
        <p:spPr>
          <a:xfrm>
            <a:off x="6537960" y="1737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Distributions, correlations, process maps, porosity/property relationships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5"/>
          <p:cNvSpPr/>
          <p:nvPr/>
        </p:nvSpPr>
        <p:spPr>
          <a:xfrm>
            <a:off x="9235440" y="1234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16"/>
          <p:cNvSpPr/>
          <p:nvPr/>
        </p:nvSpPr>
        <p:spPr>
          <a:xfrm>
            <a:off x="9235440" y="1234440"/>
            <a:ext cx="72720" cy="18284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7"/>
          <p:cNvSpPr/>
          <p:nvPr/>
        </p:nvSpPr>
        <p:spPr>
          <a:xfrm>
            <a:off x="9418320" y="1344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4. ML models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8"/>
          <p:cNvSpPr/>
          <p:nvPr/>
        </p:nvSpPr>
        <p:spPr>
          <a:xfrm>
            <a:off x="9418320" y="1737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Ridge, SVR, Random Forest, XGBoost, Gaussian Process, PyTorch MLP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19"/>
          <p:cNvSpPr/>
          <p:nvPr/>
        </p:nvSpPr>
        <p:spPr>
          <a:xfrm>
            <a:off x="594360" y="3520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20"/>
          <p:cNvSpPr/>
          <p:nvPr/>
        </p:nvSpPr>
        <p:spPr>
          <a:xfrm>
            <a:off x="594360" y="3520440"/>
            <a:ext cx="72720" cy="182844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1"/>
          <p:cNvSpPr/>
          <p:nvPr/>
        </p:nvSpPr>
        <p:spPr>
          <a:xfrm>
            <a:off x="777240" y="3630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5. Validation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2"/>
          <p:cNvSpPr/>
          <p:nvPr/>
        </p:nvSpPr>
        <p:spPr>
          <a:xfrm>
            <a:off x="777240" y="4023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Grouped 5-fold CV by laser power, compared with random CV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23"/>
          <p:cNvSpPr/>
          <p:nvPr/>
        </p:nvSpPr>
        <p:spPr>
          <a:xfrm>
            <a:off x="3474720" y="3520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24"/>
          <p:cNvSpPr/>
          <p:nvPr/>
        </p:nvSpPr>
        <p:spPr>
          <a:xfrm>
            <a:off x="3474720" y="3520440"/>
            <a:ext cx="72720" cy="182844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5"/>
          <p:cNvSpPr/>
          <p:nvPr/>
        </p:nvSpPr>
        <p:spPr>
          <a:xfrm>
            <a:off x="3657600" y="3630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6. Explainability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6"/>
          <p:cNvSpPr/>
          <p:nvPr/>
        </p:nvSpPr>
        <p:spPr>
          <a:xfrm>
            <a:off x="3657600" y="4023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SHAP, permutation importance, PDP/ICE, ablation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27"/>
          <p:cNvSpPr/>
          <p:nvPr/>
        </p:nvSpPr>
        <p:spPr>
          <a:xfrm>
            <a:off x="6355080" y="3520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28"/>
          <p:cNvSpPr/>
          <p:nvPr/>
        </p:nvSpPr>
        <p:spPr>
          <a:xfrm>
            <a:off x="6355080" y="3520440"/>
            <a:ext cx="72720" cy="182844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9"/>
          <p:cNvSpPr/>
          <p:nvPr/>
        </p:nvSpPr>
        <p:spPr>
          <a:xfrm>
            <a:off x="6537960" y="3630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7. Uncertainty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0"/>
          <p:cNvSpPr/>
          <p:nvPr/>
        </p:nvSpPr>
        <p:spPr>
          <a:xfrm>
            <a:off x="6537960" y="4023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Prediction spread, ensembles, GPR, conformal/interval methods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31"/>
          <p:cNvSpPr/>
          <p:nvPr/>
        </p:nvSpPr>
        <p:spPr>
          <a:xfrm>
            <a:off x="9235440" y="352044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32"/>
          <p:cNvSpPr/>
          <p:nvPr/>
        </p:nvSpPr>
        <p:spPr>
          <a:xfrm>
            <a:off x="9235440" y="3520440"/>
            <a:ext cx="72720" cy="1828440"/>
          </a:xfrm>
          <a:prstGeom prst="rect">
            <a:avLst/>
          </a:prstGeom>
          <a:solidFill>
            <a:srgbClr val="3091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33"/>
          <p:cNvSpPr/>
          <p:nvPr/>
        </p:nvSpPr>
        <p:spPr>
          <a:xfrm>
            <a:off x="9418320" y="36302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09167"/>
                </a:solidFill>
                <a:effectLst/>
                <a:uFillTx/>
                <a:latin typeface="Aptos"/>
              </a:rPr>
              <a:t>8. Optimization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4"/>
          <p:cNvSpPr/>
          <p:nvPr/>
        </p:nvSpPr>
        <p:spPr>
          <a:xfrm>
            <a:off x="9418320" y="4023360"/>
            <a:ext cx="2258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Constrained search + Pareto-front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3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dirty="0">
                <a:solidFill>
                  <a:srgbClr val="1F2F44"/>
                </a:solidFill>
                <a:latin typeface="Aptos Display"/>
              </a:rPr>
              <a:t>Methodology: Steps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What the project will accomplish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685800" y="1143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685800" y="1143000"/>
            <a:ext cx="72720" cy="89568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868680" y="1252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1064040" y="1270990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 Collect, clean and standardize the publicly available Ti-6Al-4V PSP dataset.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7"/>
          <p:cNvSpPr/>
          <p:nvPr/>
        </p:nvSpPr>
        <p:spPr>
          <a:xfrm>
            <a:off x="6217920" y="1143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6217920" y="1143000"/>
            <a:ext cx="72720" cy="89568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6400800" y="1252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6675480" y="1270990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Explore relationships between process parameters, porosity, pore morphology, grain morphology and mechanical properties.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1"/>
          <p:cNvSpPr/>
          <p:nvPr/>
        </p:nvSpPr>
        <p:spPr>
          <a:xfrm>
            <a:off x="685800" y="2286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12"/>
          <p:cNvSpPr/>
          <p:nvPr/>
        </p:nvSpPr>
        <p:spPr>
          <a:xfrm>
            <a:off x="685800" y="2286000"/>
            <a:ext cx="72720" cy="89568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868680" y="2395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1064040" y="2423710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Develop baseline regression models for porosity and key mechanical properties.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5"/>
          <p:cNvSpPr/>
          <p:nvPr/>
        </p:nvSpPr>
        <p:spPr>
          <a:xfrm>
            <a:off x="6217920" y="2286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16"/>
          <p:cNvSpPr/>
          <p:nvPr/>
        </p:nvSpPr>
        <p:spPr>
          <a:xfrm>
            <a:off x="6217920" y="2286000"/>
            <a:ext cx="72720" cy="89568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7"/>
          <p:cNvSpPr/>
          <p:nvPr/>
        </p:nvSpPr>
        <p:spPr>
          <a:xfrm>
            <a:off x="6400800" y="2395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8"/>
          <p:cNvSpPr/>
          <p:nvPr/>
        </p:nvSpPr>
        <p:spPr>
          <a:xfrm>
            <a:off x="6633900" y="2406289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Compare process-only, defect-only/combined and full PSP feature groups.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9"/>
          <p:cNvSpPr/>
          <p:nvPr/>
        </p:nvSpPr>
        <p:spPr>
          <a:xfrm>
            <a:off x="685800" y="3429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20"/>
          <p:cNvSpPr/>
          <p:nvPr/>
        </p:nvSpPr>
        <p:spPr>
          <a:xfrm>
            <a:off x="685800" y="3429000"/>
            <a:ext cx="72720" cy="89568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1"/>
          <p:cNvSpPr/>
          <p:nvPr/>
        </p:nvSpPr>
        <p:spPr>
          <a:xfrm>
            <a:off x="868680" y="3538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2"/>
          <p:cNvSpPr/>
          <p:nvPr/>
        </p:nvSpPr>
        <p:spPr>
          <a:xfrm>
            <a:off x="1143360" y="3566710"/>
            <a:ext cx="47271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Evaluate models with cross-validation grouped by laser power.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23"/>
          <p:cNvSpPr/>
          <p:nvPr/>
        </p:nvSpPr>
        <p:spPr>
          <a:xfrm>
            <a:off x="6217920" y="3429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6217920" y="3429000"/>
            <a:ext cx="72720" cy="89568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5"/>
          <p:cNvSpPr/>
          <p:nvPr/>
        </p:nvSpPr>
        <p:spPr>
          <a:xfrm>
            <a:off x="6400800" y="3538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6"/>
          <p:cNvSpPr/>
          <p:nvPr/>
        </p:nvSpPr>
        <p:spPr>
          <a:xfrm>
            <a:off x="6684120" y="3566710"/>
            <a:ext cx="47271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Apply explainability methods to identify influential features.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27"/>
          <p:cNvSpPr/>
          <p:nvPr/>
        </p:nvSpPr>
        <p:spPr>
          <a:xfrm>
            <a:off x="685800" y="4572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28"/>
          <p:cNvSpPr/>
          <p:nvPr/>
        </p:nvSpPr>
        <p:spPr>
          <a:xfrm>
            <a:off x="685800" y="4572000"/>
            <a:ext cx="72720" cy="89568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9"/>
          <p:cNvSpPr/>
          <p:nvPr/>
        </p:nvSpPr>
        <p:spPr>
          <a:xfrm>
            <a:off x="868680" y="4681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0"/>
          <p:cNvSpPr/>
          <p:nvPr/>
        </p:nvSpPr>
        <p:spPr>
          <a:xfrm>
            <a:off x="1064040" y="4720905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Estimate prediction uncertainty using suitable ensemble, Gaussian-process or interval methods.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31"/>
          <p:cNvSpPr/>
          <p:nvPr/>
        </p:nvSpPr>
        <p:spPr>
          <a:xfrm>
            <a:off x="6217920" y="457200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32"/>
          <p:cNvSpPr/>
          <p:nvPr/>
        </p:nvSpPr>
        <p:spPr>
          <a:xfrm>
            <a:off x="6217920" y="4572000"/>
            <a:ext cx="72720" cy="89568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33"/>
          <p:cNvSpPr/>
          <p:nvPr/>
        </p:nvSpPr>
        <p:spPr>
          <a:xfrm>
            <a:off x="6400800" y="46818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4"/>
          <p:cNvSpPr/>
          <p:nvPr/>
        </p:nvSpPr>
        <p:spPr>
          <a:xfrm>
            <a:off x="6748200" y="4709710"/>
            <a:ext cx="47271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 dirty="0">
                <a:solidFill>
                  <a:srgbClr val="303841"/>
                </a:solidFill>
                <a:effectLst/>
                <a:uFillTx/>
                <a:latin typeface="Aptos"/>
              </a:rPr>
              <a:t>Develop constrained multi-objective optimization within the experimental process range.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3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3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Methodology Focus: Grouped Validation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A key part of the proposed research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3"/>
          <p:cNvSpPr/>
          <p:nvPr/>
        </p:nvSpPr>
        <p:spPr>
          <a:xfrm>
            <a:off x="685800" y="1234440"/>
            <a:ext cx="5166000" cy="1965600"/>
          </a:xfrm>
          <a:prstGeom prst="roundRect">
            <a:avLst>
              <a:gd name="adj" fmla="val 16667"/>
            </a:avLst>
          </a:prstGeom>
          <a:solidFill>
            <a:srgbClr val="FCEDED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ectangle 4"/>
          <p:cNvSpPr/>
          <p:nvPr/>
        </p:nvSpPr>
        <p:spPr>
          <a:xfrm>
            <a:off x="685800" y="1234440"/>
            <a:ext cx="72720" cy="1965600"/>
          </a:xfrm>
          <a:prstGeom prst="rect">
            <a:avLst/>
          </a:prstGeom>
          <a:solidFill>
            <a:srgbClr val="CD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5"/>
          <p:cNvSpPr/>
          <p:nvPr/>
        </p:nvSpPr>
        <p:spPr>
          <a:xfrm>
            <a:off x="8686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D4343"/>
                </a:solidFill>
                <a:effectLst/>
                <a:uFillTx/>
                <a:latin typeface="Aptos"/>
              </a:rPr>
              <a:t>RISK WITH RANDOM SPLITTING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868680" y="1737360"/>
            <a:ext cx="48186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Many conditions share the same laser power. A random split leaves close neighbours of each test point in training, so scores may not reflect a genuinely new power level.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7"/>
          <p:cNvSpPr/>
          <p:nvPr/>
        </p:nvSpPr>
        <p:spPr>
          <a:xfrm>
            <a:off x="6172200" y="1234440"/>
            <a:ext cx="5166000" cy="196560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8"/>
          <p:cNvSpPr/>
          <p:nvPr/>
        </p:nvSpPr>
        <p:spPr>
          <a:xfrm>
            <a:off x="6172200" y="1234440"/>
            <a:ext cx="72720" cy="1965600"/>
          </a:xfrm>
          <a:prstGeom prst="rect">
            <a:avLst/>
          </a:prstGeom>
          <a:solidFill>
            <a:srgbClr val="3091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6355080" y="1344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09167"/>
                </a:solidFill>
                <a:effectLst/>
                <a:uFillTx/>
                <a:latin typeface="Aptos"/>
              </a:rPr>
              <a:t>PROPOSED 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6355080" y="1737360"/>
            <a:ext cx="48186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Put all conditions with the same laser power in one fold (GroupKFold), so every test fold holds unseen power levels.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1"/>
          <p:cNvSpPr/>
          <p:nvPr/>
        </p:nvSpPr>
        <p:spPr>
          <a:xfrm>
            <a:off x="685800" y="3657600"/>
            <a:ext cx="3245760" cy="155412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ectangle 12"/>
          <p:cNvSpPr/>
          <p:nvPr/>
        </p:nvSpPr>
        <p:spPr>
          <a:xfrm>
            <a:off x="685800" y="3657600"/>
            <a:ext cx="72720" cy="1554120"/>
          </a:xfrm>
          <a:prstGeom prst="rect">
            <a:avLst/>
          </a:prstGeom>
          <a:solidFill>
            <a:srgbClr val="2D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3"/>
          <p:cNvSpPr/>
          <p:nvPr/>
        </p:nvSpPr>
        <p:spPr>
          <a:xfrm>
            <a:off x="868680" y="376740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868680" y="4160520"/>
            <a:ext cx="2898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Grouped 5-fold CV (groups = laser power)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Random 5-fold CV, 10 seeds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for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5"/>
          <p:cNvSpPr/>
          <p:nvPr/>
        </p:nvSpPr>
        <p:spPr>
          <a:xfrm>
            <a:off x="4434840" y="3657600"/>
            <a:ext cx="3245760" cy="1554120"/>
          </a:xfrm>
          <a:prstGeom prst="roundRect">
            <a:avLst>
              <a:gd name="adj" fmla="val 16667"/>
            </a:avLst>
          </a:prstGeom>
          <a:solidFill>
            <a:srgbClr val="E9F7F1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16"/>
          <p:cNvSpPr/>
          <p:nvPr/>
        </p:nvSpPr>
        <p:spPr>
          <a:xfrm>
            <a:off x="4434840" y="3657600"/>
            <a:ext cx="72720" cy="1554120"/>
          </a:xfrm>
          <a:prstGeom prst="rect">
            <a:avLst/>
          </a:prstGeom>
          <a:solidFill>
            <a:srgbClr val="238B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4617720" y="376740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8B8B"/>
                </a:solidFill>
                <a:effectLst/>
                <a:uFillTx/>
                <a:latin typeface="Aptos"/>
              </a:rPr>
              <a:t>METRICS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8"/>
          <p:cNvSpPr/>
          <p:nvPr/>
        </p:nvSpPr>
        <p:spPr>
          <a:xfrm>
            <a:off x="4617720" y="4160520"/>
            <a:ext cx="2898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MAE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RMSE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R²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Prediction-interval coverage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9"/>
          <p:cNvSpPr/>
          <p:nvPr/>
        </p:nvSpPr>
        <p:spPr>
          <a:xfrm>
            <a:off x="8183880" y="3657600"/>
            <a:ext cx="3245760" cy="1554120"/>
          </a:xfrm>
          <a:prstGeom prst="roundRect">
            <a:avLst>
              <a:gd name="adj" fmla="val 16667"/>
            </a:avLst>
          </a:prstGeom>
          <a:solidFill>
            <a:srgbClr val="FCF4E7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20"/>
          <p:cNvSpPr/>
          <p:nvPr/>
        </p:nvSpPr>
        <p:spPr>
          <a:xfrm>
            <a:off x="8183880" y="3657600"/>
            <a:ext cx="72720" cy="1554120"/>
          </a:xfrm>
          <a:prstGeom prst="rect">
            <a:avLst/>
          </a:prstGeom>
          <a:solidFill>
            <a:srgbClr val="E791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1"/>
          <p:cNvSpPr/>
          <p:nvPr/>
        </p:nvSpPr>
        <p:spPr>
          <a:xfrm>
            <a:off x="8366760" y="376740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9131"/>
                </a:solidFill>
                <a:effectLst/>
                <a:uFillTx/>
                <a:latin typeface="Aptos"/>
              </a:rPr>
              <a:t>ROBUSTNESS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8366760" y="4160520"/>
            <a:ext cx="28983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Compare random vs grouped splitting</a:t>
            </a:r>
            <a:br>
              <a:rPr sz="1300"/>
            </a:br>
            <a:r>
              <a:rPr lang="en-US" sz="13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Assess fold-to-fold variation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23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4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480" y="320911"/>
            <a:ext cx="10972440" cy="52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solidFill>
                  <a:srgbClr val="1F2F44"/>
                </a:solidFill>
                <a:latin typeface="Aptos Display"/>
              </a:rPr>
              <a:t>Results: Validation and Model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69737D"/>
                </a:solidFill>
                <a:latin typeface="Aptos"/>
              </a:rPr>
              <a:t>35 XCT conditions, 6 models, 3 feature groups, </a:t>
            </a:r>
            <a:r>
              <a:rPr sz="1200" b="0" dirty="0" err="1">
                <a:solidFill>
                  <a:srgbClr val="69737D"/>
                </a:solidFill>
                <a:latin typeface="Aptos"/>
              </a:rPr>
              <a:t>GroupKFold</a:t>
            </a:r>
            <a:r>
              <a:rPr sz="1200" b="0" dirty="0">
                <a:solidFill>
                  <a:srgbClr val="69737D"/>
                </a:solidFill>
                <a:latin typeface="Aptos"/>
              </a:rPr>
              <a:t> by laser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geNumber"/>
          <p:cNvSpPr txBox="1"/>
          <p:nvPr/>
        </p:nvSpPr>
        <p:spPr>
          <a:xfrm>
            <a:off x="11201400" y="6600000"/>
            <a:ext cx="639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pic>
        <p:nvPicPr>
          <p:cNvPr id="8" name="Picture 7" descr="fig7_feature_group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250000"/>
            <a:ext cx="6200000" cy="27918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0000" y="1180000"/>
            <a:ext cx="4792000" cy="3740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0000" y="1180000"/>
            <a:ext cx="45719" cy="3599390"/>
          </a:xfrm>
          <a:prstGeom prst="rect">
            <a:avLst/>
          </a:prstGeom>
          <a:solidFill>
            <a:srgbClr val="2D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0000" y="1270000"/>
            <a:ext cx="454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D5B91"/>
                </a:solidFill>
                <a:latin typeface="Aptos"/>
              </a:rPr>
              <a:t>Key numbers (grouped CV)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1610000"/>
            <a:ext cx="45400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P and v only: R² = 0.65 UTS, 0.71 yield, 0.81 elongation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Adding pore features: UTS 0.68, yield 0.74; elongation drops to 0.64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Porosity from P and v: best R² = -0.06, not predictable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Hardness: best R² = 0.14; spread between conditions (12.7 HV) is below indent scatter (19.1 HV)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Random vs grouped CV: random scored higher for only 1 of 6 models on UTS, so no consistent optimism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F2F44"/>
                </a:solidFill>
                <a:latin typeface="Aptos Display"/>
              </a:rPr>
              <a:t>Results: Explainability and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69737D"/>
                </a:solidFill>
                <a:latin typeface="Aptos"/>
              </a:rPr>
              <a:t>SHAP on </a:t>
            </a:r>
            <a:r>
              <a:rPr sz="1200" b="0" dirty="0" err="1">
                <a:solidFill>
                  <a:srgbClr val="69737D"/>
                </a:solidFill>
                <a:latin typeface="Aptos"/>
              </a:rPr>
              <a:t>XGBoost</a:t>
            </a:r>
            <a:r>
              <a:rPr sz="1200" b="0" dirty="0">
                <a:solidFill>
                  <a:srgbClr val="69737D"/>
                </a:solidFill>
                <a:latin typeface="Aptos"/>
              </a:rPr>
              <a:t> (UTS, 15 features); intervals from held-out power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geNumber"/>
          <p:cNvSpPr txBox="1"/>
          <p:nvPr/>
        </p:nvSpPr>
        <p:spPr>
          <a:xfrm>
            <a:off x="11201400" y="6600000"/>
            <a:ext cx="639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pic>
        <p:nvPicPr>
          <p:cNvPr id="8" name="Picture 7" descr="fig10_shap_feature_importanc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80000"/>
            <a:ext cx="4094219" cy="2900000"/>
          </a:xfrm>
          <a:prstGeom prst="rect">
            <a:avLst/>
          </a:prstGeom>
        </p:spPr>
      </p:pic>
      <p:pic>
        <p:nvPicPr>
          <p:cNvPr id="9" name="Picture 8" descr="fig14_uncertainty_gpr_inter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00" y="1180000"/>
            <a:ext cx="5800000" cy="28765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0000" y="4250000"/>
            <a:ext cx="11200000" cy="220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0000" y="4250000"/>
            <a:ext cx="72720" cy="2200000"/>
          </a:xfrm>
          <a:prstGeom prst="rect">
            <a:avLst/>
          </a:prstGeom>
          <a:solidFill>
            <a:srgbClr val="23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0000" y="4340000"/>
            <a:ext cx="1094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8B8B"/>
                </a:solidFill>
                <a:latin typeface="Aptos"/>
              </a:rPr>
              <a:t>What the numbers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" y="4680000"/>
            <a:ext cx="1094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303841"/>
                </a:solidFill>
                <a:latin typeface="Aptos"/>
              </a:rPr>
              <a:t>• XCT porosity is the largest SHAP contributor (mean |SHAP| 21 MPa, down to -85 MPa for the most porous set); higher LED lowers predicted UTS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303841"/>
                </a:solidFill>
                <a:latin typeface="Aptos"/>
              </a:rPr>
              <a:t>• Gaussian process 95 % band covers 90 % of held-out conditions; MC dropout only 81 % (too narrow)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303841"/>
                </a:solidFill>
                <a:latin typeface="Aptos"/>
              </a:rPr>
              <a:t>• Cross-conformal: 95 % coverage at the 90 % level, but intervals ≈ 118 MPa wide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F2F44"/>
                </a:solidFill>
                <a:latin typeface="Aptos Display"/>
              </a:rPr>
              <a:t>Results: Process Search and Data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69737D"/>
                </a:solidFill>
                <a:latin typeface="Aptos"/>
              </a:rPr>
              <a:t>Pareto search for mi</a:t>
            </a:r>
            <a:r>
              <a:rPr lang="en-IN" sz="1200" b="0" dirty="0">
                <a:solidFill>
                  <a:srgbClr val="69737D"/>
                </a:solidFill>
                <a:latin typeface="Aptos"/>
              </a:rPr>
              <a:t>n </a:t>
            </a:r>
            <a:r>
              <a:rPr lang="en-IN" sz="1200" b="0" dirty="0" err="1">
                <a:solidFill>
                  <a:srgbClr val="69737D"/>
                </a:solidFill>
                <a:latin typeface="Aptos"/>
              </a:rPr>
              <a:t>porosi</a:t>
            </a:r>
            <a:r>
              <a:rPr sz="1200" b="0" dirty="0">
                <a:solidFill>
                  <a:srgbClr val="69737D"/>
                </a:solidFill>
                <a:latin typeface="Aptos"/>
              </a:rPr>
              <a:t>ty, max UTS, max elongation inside the tested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geNumber"/>
          <p:cNvSpPr txBox="1"/>
          <p:nvPr/>
        </p:nvSpPr>
        <p:spPr>
          <a:xfrm>
            <a:off x="11201400" y="6600000"/>
            <a:ext cx="639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pic>
        <p:nvPicPr>
          <p:cNvPr id="8" name="Picture 7" descr="fig19_golden_process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80000"/>
            <a:ext cx="7539899" cy="53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0000" y="1180000"/>
            <a:ext cx="4800000" cy="525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0000" y="1180000"/>
            <a:ext cx="72720" cy="5250000"/>
          </a:xfrm>
          <a:prstGeom prst="rect">
            <a:avLst/>
          </a:prstGeom>
          <a:solidFill>
            <a:srgbClr val="BE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0000" y="1270000"/>
            <a:ext cx="45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dirty="0">
                <a:solidFill>
                  <a:srgbClr val="BE145B"/>
                </a:solidFill>
                <a:latin typeface="Aptos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1675989"/>
            <a:ext cx="4540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Pareto set: P = 230–275 W, v = 1080–1460 mm/s, LED = 188–223 J/m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Contains measured set 41 (235 W, 1200 mm/s): UTS 1113 MPa, elongation 15.38 %, porosity 0.0132 %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Suggestions confirm the measured best region; they must be built and tested before use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03841"/>
                </a:solidFill>
                <a:latin typeface="Aptos"/>
              </a:rPr>
              <a:t>• Data check: the printed Table 8 headers swap yield strength and UTS; corrected using the </a:t>
            </a:r>
            <a:r>
              <a:rPr sz="1400" b="0" dirty="0" err="1">
                <a:solidFill>
                  <a:srgbClr val="303841"/>
                </a:solidFill>
                <a:latin typeface="Aptos"/>
              </a:rPr>
              <a:t>Zenodo</a:t>
            </a:r>
            <a:r>
              <a:rPr sz="1400" b="0" dirty="0">
                <a:solidFill>
                  <a:srgbClr val="303841"/>
                </a:solidFill>
                <a:latin typeface="Aptos"/>
              </a:rPr>
              <a:t>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1"/>
          <p:cNvSpPr/>
          <p:nvPr/>
        </p:nvSpPr>
        <p:spPr>
          <a:xfrm>
            <a:off x="594360" y="292680"/>
            <a:ext cx="109724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1F2F44"/>
                </a:solidFill>
                <a:effectLst/>
                <a:uFillTx/>
                <a:latin typeface="Aptos Display"/>
              </a:rPr>
              <a:t> Project Takeaway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621720" y="8046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37D"/>
                </a:solidFill>
                <a:effectLst/>
                <a:uFillTx/>
                <a:latin typeface="Aptos"/>
              </a:rPr>
              <a:t>What we found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3"/>
          <p:cNvSpPr/>
          <p:nvPr/>
        </p:nvSpPr>
        <p:spPr>
          <a:xfrm>
            <a:off x="411480" y="13716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D5B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457200" y="1527120"/>
            <a:ext cx="1874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5B91"/>
                </a:solidFill>
                <a:effectLst/>
                <a:uFillTx/>
                <a:latin typeface="Calibri"/>
              </a:rPr>
              <a:t>DATASET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03841"/>
                </a:solidFill>
                <a:effectLst/>
                <a:uFillTx/>
                <a:latin typeface="Calibri"/>
              </a:rPr>
              <a:t>42 LPBF conditions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ight Arrow 5"/>
          <p:cNvSpPr/>
          <p:nvPr/>
        </p:nvSpPr>
        <p:spPr>
          <a:xfrm>
            <a:off x="2404800" y="1719000"/>
            <a:ext cx="29232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73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ounded Rectangle 6"/>
          <p:cNvSpPr/>
          <p:nvPr/>
        </p:nvSpPr>
        <p:spPr>
          <a:xfrm>
            <a:off x="2761560" y="13716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38B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2807280" y="1527120"/>
            <a:ext cx="1874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38B8B"/>
                </a:solidFill>
                <a:effectLst/>
                <a:uFillTx/>
                <a:latin typeface="Calibri"/>
              </a:rPr>
              <a:t>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03841"/>
                </a:solidFill>
                <a:effectLst/>
                <a:uFillTx/>
                <a:latin typeface="Calibri"/>
              </a:rPr>
              <a:t>Can we predict reliably?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ight Arrow 8"/>
          <p:cNvSpPr/>
          <p:nvPr/>
        </p:nvSpPr>
        <p:spPr>
          <a:xfrm>
            <a:off x="4754880" y="1719000"/>
            <a:ext cx="29232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73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ounded Rectangle 9"/>
          <p:cNvSpPr/>
          <p:nvPr/>
        </p:nvSpPr>
        <p:spPr>
          <a:xfrm>
            <a:off x="5111640" y="13716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791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0"/>
          <p:cNvSpPr/>
          <p:nvPr/>
        </p:nvSpPr>
        <p:spPr>
          <a:xfrm>
            <a:off x="5157360" y="1527120"/>
            <a:ext cx="1874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79131"/>
                </a:solidFill>
                <a:effectLst/>
                <a:uFillTx/>
                <a:latin typeface="Calibri"/>
              </a:rPr>
              <a:t>METHOD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03841"/>
                </a:solidFill>
                <a:effectLst/>
                <a:uFillTx/>
                <a:latin typeface="Calibri"/>
              </a:rPr>
              <a:t>ML + grouped 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ight Arrow 11"/>
          <p:cNvSpPr/>
          <p:nvPr/>
        </p:nvSpPr>
        <p:spPr>
          <a:xfrm>
            <a:off x="7104960" y="1719000"/>
            <a:ext cx="29232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73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Rounded Rectangle 12"/>
          <p:cNvSpPr/>
          <p:nvPr/>
        </p:nvSpPr>
        <p:spPr>
          <a:xfrm>
            <a:off x="7461360" y="13716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BE145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7507080" y="1527120"/>
            <a:ext cx="1874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BE145B"/>
                </a:solidFill>
                <a:effectLst/>
                <a:uFillTx/>
                <a:latin typeface="Calibri"/>
              </a:rPr>
              <a:t>TRUST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03841"/>
                </a:solidFill>
                <a:effectLst/>
                <a:uFillTx/>
                <a:latin typeface="Calibri"/>
              </a:rPr>
              <a:t>Explainability + uncertainty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ight Arrow 14"/>
          <p:cNvSpPr/>
          <p:nvPr/>
        </p:nvSpPr>
        <p:spPr>
          <a:xfrm>
            <a:off x="9455040" y="1719000"/>
            <a:ext cx="29232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73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ounded Rectangle 15"/>
          <p:cNvSpPr/>
          <p:nvPr/>
        </p:nvSpPr>
        <p:spPr>
          <a:xfrm>
            <a:off x="9811440" y="13716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3091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16"/>
          <p:cNvSpPr/>
          <p:nvPr/>
        </p:nvSpPr>
        <p:spPr>
          <a:xfrm>
            <a:off x="9857160" y="1527120"/>
            <a:ext cx="1874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9167"/>
                </a:solidFill>
                <a:effectLst/>
                <a:uFillTx/>
                <a:latin typeface="Calibri"/>
              </a:rPr>
              <a:t>OUTPUT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03841"/>
                </a:solidFill>
                <a:effectLst/>
                <a:uFillTx/>
                <a:latin typeface="Calibri"/>
              </a:rPr>
              <a:t>Constrained optimization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17"/>
          <p:cNvSpPr/>
          <p:nvPr/>
        </p:nvSpPr>
        <p:spPr>
          <a:xfrm>
            <a:off x="914400" y="3063240"/>
            <a:ext cx="10286640" cy="173700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18"/>
          <p:cNvSpPr/>
          <p:nvPr/>
        </p:nvSpPr>
        <p:spPr>
          <a:xfrm>
            <a:off x="914400" y="3063240"/>
            <a:ext cx="72720" cy="173700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19"/>
          <p:cNvSpPr/>
          <p:nvPr/>
        </p:nvSpPr>
        <p:spPr>
          <a:xfrm>
            <a:off x="1097280" y="317304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BE145B"/>
                </a:solidFill>
                <a:effectLst/>
                <a:uFillTx/>
                <a:latin typeface="Aptos"/>
              </a:rPr>
              <a:t>Main message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0"/>
          <p:cNvSpPr/>
          <p:nvPr/>
        </p:nvSpPr>
        <p:spPr>
          <a:xfrm>
            <a:off x="1097280" y="3566160"/>
            <a:ext cx="99392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Laser power and scan speed alone predict strength and ductility at unseen power levels (grouped R² 0.65–0.81); pore and grain features add little. Porosity and hardness could not be predicted. Uncertainty is quantified, and the process search, kept inside the tested region, points to 230–275 W and 1080–1460 mm/s, where the best measured specimen lies.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21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22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1"/>
          <p:cNvSpPr/>
          <p:nvPr/>
        </p:nvSpPr>
        <p:spPr>
          <a:xfrm>
            <a:off x="594360" y="292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2F44"/>
                </a:solidFill>
                <a:effectLst/>
                <a:uFillTx/>
                <a:latin typeface="Aptos Display"/>
              </a:rPr>
              <a:t>References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"/>
          <p:cNvSpPr/>
          <p:nvPr/>
        </p:nvSpPr>
        <p:spPr>
          <a:xfrm>
            <a:off x="822960" y="1234440"/>
            <a:ext cx="10515240" cy="434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Luo, Q., Yin, L., Simpson, T. W., &amp; Beese, A. M. (2023) — Dataset of process-structure-property feature relationship for laser powder bed fusion additive manufactured Ti-6Al-4V material.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Data in Brief, Volume 46, Article 108911 — selected as the main experimental dataset/reference for this project.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Luo, Q., Yin, L., Simpson, T. W., &amp; Beese, A. M. (2022) — Effect of processing parameters on pore structures, grain features, and mechanical properties in Ti-6Al-4V by laser powder bed fusion.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Additive Manufacturing (2022) — used to understand relationships between LPBF processing parameters, pore structures, grain features and mechanical properties.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500" b="0" u="none" strike="noStrike">
                <a:solidFill>
                  <a:srgbClr val="303841"/>
                </a:solidFill>
                <a:effectLst/>
                <a:uFillTx/>
                <a:latin typeface="Aptos"/>
              </a:rPr>
              <a:t>Zenodo Dataset — Record 6587905 — public dataset containing the processed feature table and supporting experimental data.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3"/>
          <p:cNvSpPr/>
          <p:nvPr/>
        </p:nvSpPr>
        <p:spPr>
          <a:xfrm>
            <a:off x="822960" y="5532120"/>
            <a:ext cx="10515240" cy="59400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>
            <a:solidFill>
              <a:srgbClr val="DAE1E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4"/>
          <p:cNvSpPr/>
          <p:nvPr/>
        </p:nvSpPr>
        <p:spPr>
          <a:xfrm>
            <a:off x="1005840" y="567828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5B91"/>
                </a:solidFill>
                <a:effectLst/>
                <a:uFillTx/>
                <a:latin typeface="Aptos"/>
              </a:rPr>
              <a:t>The Luo et al. papers and the Zenodo files are the technical sources for all data used here.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5"/>
          <p:cNvSpPr/>
          <p:nvPr/>
        </p:nvSpPr>
        <p:spPr>
          <a:xfrm>
            <a:off x="0" y="6620400"/>
            <a:ext cx="12191400" cy="237240"/>
          </a:xfrm>
          <a:prstGeom prst="rect">
            <a:avLst/>
          </a:prstGeom>
          <a:solidFill>
            <a:srgbClr val="BE14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6"/>
          <p:cNvSpPr/>
          <p:nvPr/>
        </p:nvSpPr>
        <p:spPr>
          <a:xfrm>
            <a:off x="11201400" y="664308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4BA1127E-515B-D361-80EF-9F4D9C1E9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935908"/>
            <a:ext cx="7048500" cy="4991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1582</Words>
  <Application>Microsoft Office PowerPoint</Application>
  <PresentationFormat>Widescreen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GANTASALA SRI HARI SUBHASH GUPTHA av.sc.u4aie23015</cp:lastModifiedBy>
  <cp:revision>5</cp:revision>
  <dcterms:modified xsi:type="dcterms:W3CDTF">2026-10-10T17:57:39Z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